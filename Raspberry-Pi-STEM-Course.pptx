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51A4A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914400"/>
            <a:ext cx="164592" cy="164592"/>
          </a:xfrm>
          <a:prstGeom prst="ellipse">
            <a:avLst/>
          </a:prstGeom>
          <a:solidFill>
            <a:srgbClr val="F4B41A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914400"/>
            <a:ext cx="164592" cy="164592"/>
          </a:xfrm>
          <a:prstGeom prst="ellipse">
            <a:avLst/>
          </a:prstGeom>
          <a:solidFill>
            <a:srgbClr val="0FB5A4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914400"/>
            <a:ext cx="164592" cy="164592"/>
          </a:xfrm>
          <a:prstGeom prst="ellipse">
            <a:avLst/>
          </a:prstGeom>
          <a:solidFill>
            <a:srgbClr val="F4B41A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0" y="1554480"/>
            <a:ext cx="164592" cy="164592"/>
          </a:xfrm>
          <a:prstGeom prst="ellipse">
            <a:avLst/>
          </a:prstGeom>
          <a:solidFill>
            <a:srgbClr val="0FB5A4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0" y="1554480"/>
            <a:ext cx="164592" cy="164592"/>
          </a:xfrm>
          <a:prstGeom prst="ellipse">
            <a:avLst/>
          </a:prstGeom>
          <a:solidFill>
            <a:srgbClr val="F4B41A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0" y="1554480"/>
            <a:ext cx="164592" cy="164592"/>
          </a:xfrm>
          <a:prstGeom prst="ellipse">
            <a:avLst/>
          </a:prstGeom>
          <a:solidFill>
            <a:srgbClr val="0FB5A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BEGINNER FRIENDLY · PYTHON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" y="18745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Raspberry Pi Electronics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hands-on STEM course with the Freenove Ultimate Starter Kit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 circuits · write real code · teach it to others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6634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152A44"/>
          </a:solidFill>
          <a:ln w="12700">
            <a:solidFill>
              <a:srgbClr val="0FB5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6634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 components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0" y="46634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152A44"/>
          </a:solidFill>
          <a:ln w="12700">
            <a:solidFill>
              <a:srgbClr val="0FB5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46634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projects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46634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152A44"/>
          </a:solidFill>
          <a:ln w="12700">
            <a:solidFill>
              <a:srgbClr val="0FB5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6634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on your Pi  'edith'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COURSE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be able to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109728" cy="1874520"/>
          </a:xfrm>
          <a:prstGeom prst="rect">
            <a:avLst/>
          </a:prstGeom>
          <a:solidFill>
            <a:srgbClr val="C51A4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47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51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0876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a circuit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508760" y="244144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breadboards, resistors, and the Pi's GPIO pins — and wire them safely.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691640"/>
            <a:ext cx="109728" cy="1874520"/>
          </a:xfrm>
          <a:prstGeom prst="rect">
            <a:avLst/>
          </a:prstGeom>
          <a:solidFill>
            <a:srgbClr val="0FB5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947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B5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22376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Python that moves things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223760" y="244144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lights, read sensors, spin motors, and show data on a screen.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840480"/>
            <a:ext cx="109728" cy="1874520"/>
          </a:xfrm>
          <a:prstGeom prst="rect">
            <a:avLst/>
          </a:prstGeom>
          <a:solidFill>
            <a:srgbClr val="C51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096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51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0876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like a debugger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508760" y="459028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Predict, test, and fix — the core skill behind every project.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3840480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3840480"/>
            <a:ext cx="109728" cy="1874520"/>
          </a:xfrm>
          <a:prstGeom prst="rect">
            <a:avLst/>
          </a:prstGeom>
          <a:solidFill>
            <a:srgbClr val="0FB5A4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4096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B5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22376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teach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223760" y="459028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capstone projects and run the same lessons for friends, students, or coworkers.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547104"/>
            <a:ext cx="121615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Electronics  ·  STEM Course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kit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828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51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223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&amp; parts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10128" y="16916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0128" y="1828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B5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128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493008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projects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63056" y="16916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63056" y="1828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4B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345936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kit cost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15984" y="16916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15984" y="1828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A7C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9198864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(we use Python)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1124712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13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inside (a tour)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7240" y="4425696"/>
            <a:ext cx="118872" cy="118872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33272" y="43708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LEDs, RGB LED, buzzers, relay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4425696"/>
            <a:ext cx="118872" cy="118872"/>
          </a:xfrm>
          <a:prstGeom prst="ellipse">
            <a:avLst/>
          </a:prstGeom>
          <a:solidFill>
            <a:srgbClr val="0FB5A4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43708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Displays: LCD1602, 7-segment, 8x8 matrix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4956048"/>
            <a:ext cx="118872" cy="118872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24" name="Text 22"/>
          <p:cNvSpPr/>
          <p:nvPr/>
        </p:nvSpPr>
        <p:spPr>
          <a:xfrm>
            <a:off x="1033272" y="49011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Motion: servo, stepper, DC motor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4956048"/>
            <a:ext cx="118872" cy="118872"/>
          </a:xfrm>
          <a:prstGeom prst="ellipse">
            <a:avLst/>
          </a:prstGeom>
          <a:solidFill>
            <a:srgbClr val="0FB5A4"/>
          </a:solidFill>
          <a:ln/>
        </p:spPr>
      </p:sp>
      <p:sp>
        <p:nvSpPr>
          <p:cNvPr id="26" name="Text 24"/>
          <p:cNvSpPr/>
          <p:nvPr/>
        </p:nvSpPr>
        <p:spPr>
          <a:xfrm>
            <a:off x="6519672" y="49011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Analog: potentiometer, photoresistor, thermistor (+ ADC)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7240" y="5486400"/>
            <a:ext cx="118872" cy="118872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28" name="Text 26"/>
          <p:cNvSpPr/>
          <p:nvPr/>
        </p:nvSpPr>
        <p:spPr>
          <a:xfrm>
            <a:off x="1033272" y="54315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Sensing: ultrasonic, PIR motion, DHT11, accelerometer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5486400"/>
            <a:ext cx="118872" cy="118872"/>
          </a:xfrm>
          <a:prstGeom prst="ellipse">
            <a:avLst/>
          </a:prstGeom>
          <a:solidFill>
            <a:srgbClr val="0FB5A4"/>
          </a:solidFill>
          <a:ln/>
        </p:spPr>
      </p:sp>
      <p:sp>
        <p:nvSpPr>
          <p:cNvPr id="30" name="Text 28"/>
          <p:cNvSpPr/>
          <p:nvPr/>
        </p:nvSpPr>
        <p:spPr>
          <a:xfrm>
            <a:off x="6519672" y="54315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buttons, joystick, 4x4 keypad, IR remote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547104"/>
            <a:ext cx="121615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Electronics  ·  STEM Course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You'll code right on your Pi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computer setup needed — the Pi ("edith") is already headless and reachable. You write and run all the code on it from your Windows desktop.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606040"/>
            <a:ext cx="777240" cy="77724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B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edith  — or open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with TigerVNC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99232" y="27432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E3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310128" y="23774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84448" y="2606040"/>
            <a:ext cx="777240" cy="77724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4" name="Text 12"/>
          <p:cNvSpPr/>
          <p:nvPr/>
        </p:nvSpPr>
        <p:spPr>
          <a:xfrm>
            <a:off x="3584448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B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84448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84448" y="3886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Python in the Pi's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Thonny editor or nano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0" y="27432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E3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163056" y="23774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37376" y="2606040"/>
            <a:ext cx="777240" cy="77724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20" name="Text 18"/>
          <p:cNvSpPr/>
          <p:nvPr/>
        </p:nvSpPr>
        <p:spPr>
          <a:xfrm>
            <a:off x="6437376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B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37376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 it up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37376" y="3886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circuit on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per the diagram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05088" y="27432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E3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9015984" y="23774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90304" y="2606040"/>
            <a:ext cx="777240" cy="77724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26" name="Text 24"/>
          <p:cNvSpPr/>
          <p:nvPr/>
        </p:nvSpPr>
        <p:spPr>
          <a:xfrm>
            <a:off x="9290304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B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90304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&amp; learn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90304" y="3886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blink.py — watch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work, then tweak 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892040"/>
            <a:ext cx="11247120" cy="960120"/>
          </a:xfrm>
          <a:prstGeom prst="roundRect">
            <a:avLst>
              <a:gd name="adj" fmla="val 47619"/>
            </a:avLst>
          </a:prstGeom>
          <a:solidFill>
            <a:srgbClr val="EAF6F4"/>
          </a:solidFill>
          <a:ln w="12700">
            <a:solidFill>
              <a:srgbClr val="0FB5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892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buNone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Thonny (built into Raspberry Pi OS) is the friendliest editor for beginners — run, stop, and see variable values with one click.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547104"/>
            <a:ext cx="121615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Electronics  ·  STEM Course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six-session 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10515600" cy="45720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2194560"/>
            <a:ext cx="310896" cy="310896"/>
          </a:xfrm>
          <a:prstGeom prst="ellipse">
            <a:avLst/>
          </a:prstGeom>
          <a:solidFill>
            <a:srgbClr val="C51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69748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697480"/>
            <a:ext cx="1691640" cy="91440"/>
          </a:xfrm>
          <a:prstGeom prst="rect">
            <a:avLst/>
          </a:prstGeom>
          <a:solidFill>
            <a:srgbClr val="C51A4A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862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31181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1792" y="346557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breadboard, GPIO, first blink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54096" y="2194560"/>
            <a:ext cx="310896" cy="310896"/>
          </a:xfrm>
          <a:prstGeom prst="ellipse">
            <a:avLst/>
          </a:prstGeom>
          <a:solidFill>
            <a:srgbClr val="0FB5A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86584" y="141732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86584" y="1417320"/>
            <a:ext cx="1691640" cy="91440"/>
          </a:xfrm>
          <a:prstGeom prst="rect">
            <a:avLst/>
          </a:prstGeom>
          <a:solidFill>
            <a:srgbClr val="0FB5A4"/>
          </a:solidFill>
          <a:ln/>
        </p:spPr>
      </p:sp>
      <p:sp>
        <p:nvSpPr>
          <p:cNvPr id="15" name="Text 13"/>
          <p:cNvSpPr/>
          <p:nvPr/>
        </p:nvSpPr>
        <p:spPr>
          <a:xfrm>
            <a:off x="2505456" y="1581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05456" y="183794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Outputs &amp; sound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505456" y="218541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Button, PWM, RGB, buzzer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37760" y="2194560"/>
            <a:ext cx="310896" cy="310896"/>
          </a:xfrm>
          <a:prstGeom prst="ellipse">
            <a:avLst/>
          </a:prstGeom>
          <a:solidFill>
            <a:srgbClr val="F4B4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0248" y="269748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70248" y="2697480"/>
            <a:ext cx="1691640" cy="91440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2862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0" y="31181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world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389120" y="346557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sensors, light, temperature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21424" y="2194560"/>
            <a:ext cx="310896" cy="310896"/>
          </a:xfrm>
          <a:prstGeom prst="ellipse">
            <a:avLst/>
          </a:prstGeom>
          <a:solidFill>
            <a:srgbClr val="3A7C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53912" y="141732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53912" y="1417320"/>
            <a:ext cx="1691640" cy="91440"/>
          </a:xfrm>
          <a:prstGeom prst="rect">
            <a:avLst/>
          </a:prstGeom>
          <a:solidFill>
            <a:srgbClr val="3A7CA5"/>
          </a:solidFill>
          <a:ln/>
        </p:spPr>
      </p:sp>
      <p:sp>
        <p:nvSpPr>
          <p:cNvPr id="27" name="Text 25"/>
          <p:cNvSpPr/>
          <p:nvPr/>
        </p:nvSpPr>
        <p:spPr>
          <a:xfrm>
            <a:off x="6272784" y="1581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72784" y="183794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 &amp; display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272784" y="218541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Ultrasonic, DHT11, LCD &amp; matrix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705088" y="2194560"/>
            <a:ext cx="310896" cy="310896"/>
          </a:xfrm>
          <a:prstGeom prst="ellipse">
            <a:avLst/>
          </a:prstGeom>
          <a:solidFill>
            <a:srgbClr val="C51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37576" y="269748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37576" y="2697480"/>
            <a:ext cx="1691640" cy="91440"/>
          </a:xfrm>
          <a:prstGeom prst="rect">
            <a:avLst/>
          </a:prstGeom>
          <a:solidFill>
            <a:srgbClr val="C51A4A"/>
          </a:solidFill>
          <a:ln/>
        </p:spPr>
      </p:sp>
      <p:sp>
        <p:nvSpPr>
          <p:cNvPr id="33" name="Text 31"/>
          <p:cNvSpPr/>
          <p:nvPr/>
        </p:nvSpPr>
        <p:spPr>
          <a:xfrm>
            <a:off x="8156448" y="2862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56448" y="31181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Things that move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156448" y="346557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Servo, stepper, DC motor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588752" y="2194560"/>
            <a:ext cx="310896" cy="310896"/>
          </a:xfrm>
          <a:prstGeom prst="ellipse">
            <a:avLst/>
          </a:prstGeom>
          <a:solidFill>
            <a:srgbClr val="0FB5A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21240" y="141732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921240" y="1417320"/>
            <a:ext cx="1691640" cy="91440"/>
          </a:xfrm>
          <a:prstGeom prst="rect">
            <a:avLst/>
          </a:prstGeom>
          <a:solidFill>
            <a:srgbClr val="0FB5A4"/>
          </a:solidFill>
          <a:ln/>
        </p:spPr>
      </p:sp>
      <p:sp>
        <p:nvSpPr>
          <p:cNvPr id="39" name="Text 37"/>
          <p:cNvSpPr/>
          <p:nvPr/>
        </p:nvSpPr>
        <p:spPr>
          <a:xfrm>
            <a:off x="10040112" y="1581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40112" y="183794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Capstones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0040112" y="218541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it all into real projects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session: ~90 minutes · about a third teaching, two-thirds building.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547104"/>
            <a:ext cx="121615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Electronics  ·  STEM Course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1248" y="2743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handful of ideas every project rests on — learn these once, reuse them forever.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&amp; the breadboard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01952"/>
            <a:ext cx="411480" cy="411480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17556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3.3V only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GPIO pins are 3.3V. Never feed 5V back into a GPIO pin — it can fry the board.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953512"/>
            <a:ext cx="411480" cy="411480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53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807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off to wire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3444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change circuits with the Pi powered down. Double-check before powering 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005072"/>
            <a:ext cx="411480" cy="411480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38587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Mind resistors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4160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need a current-limiting resistor (usually 220Ω). No resistor = dead LED.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800600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5056632"/>
            <a:ext cx="411480" cy="411480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056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4910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motors on GPIO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34440" y="5212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 draw too much current — always drive them through the included driver chips.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0" y="1645920"/>
            <a:ext cx="5120640" cy="4206240"/>
          </a:xfrm>
          <a:prstGeom prst="roundRect">
            <a:avLst>
              <a:gd name="adj" fmla="val 1522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 breadboard works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B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Power rails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040880" y="264261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red (+) and blue (–) lines run the full length and carry power.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B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 Row connections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040880" y="378561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horizontal row of 5 holes is electrically joined — plug parts into the same row to connect them.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B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 The center gap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040880" y="492861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board so a chip can straddle it with each side isolated.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547104"/>
            <a:ext cx="121615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Electronics  ·  STEM Course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the GPIO pins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= General-Purpose Input/Output. These 40 pins are how the Pi senses and controls the physical world.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86000"/>
            <a:ext cx="109728" cy="1234440"/>
          </a:xfrm>
          <a:prstGeom prst="rect">
            <a:avLst/>
          </a:prstGeom>
          <a:solidFill>
            <a:srgbClr val="3A7CA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pins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85292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and 5V pins supply power to components.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2286000"/>
            <a:ext cx="109728" cy="1234440"/>
          </a:xfrm>
          <a:prstGeom prst="rect">
            <a:avLst/>
          </a:prstGeom>
          <a:solidFill>
            <a:srgbClr val="5C6B7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 (GND)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85292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return path — every circuit needs 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03320"/>
            <a:ext cx="109728" cy="1234440"/>
          </a:xfrm>
          <a:prstGeom prst="rect">
            <a:avLst/>
          </a:prstGeom>
          <a:solidFill>
            <a:srgbClr val="0FB5A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GPIO pins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27024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Programmable: set HIGH/LOW to output, or read a sensor as input.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37033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3703320"/>
            <a:ext cx="109728" cy="1234440"/>
          </a:xfrm>
          <a:prstGeom prst="rect">
            <a:avLst/>
          </a:prstGeom>
          <a:solidFill>
            <a:srgbClr val="C51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BCM numbers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427024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name pins by their 'BCM' number (e.g. GPIO17), not their board position.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5212080"/>
            <a:ext cx="11247120" cy="777240"/>
          </a:xfrm>
          <a:prstGeom prst="roundRect">
            <a:avLst>
              <a:gd name="adj" fmla="val 49412"/>
            </a:avLst>
          </a:prstGeom>
          <a:solidFill>
            <a:srgbClr val="FFF6E0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2120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included GPIO extension board + ribbon cable bring all these pins onto the breadboard with clear labels — much easier than counting pins.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47104"/>
            <a:ext cx="121615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Electronics  ·  STEM Course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the code &amp; libraries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Freenove publishes every project's wiring diagram and code for free. Grab it once on the Pi: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6400800" cy="2286000"/>
          </a:xfrm>
          <a:prstGeom prst="roundRect">
            <a:avLst>
              <a:gd name="adj" fmla="val 2400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3408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2340864"/>
            <a:ext cx="91440" cy="91440"/>
          </a:xfrm>
          <a:prstGeom prst="ellipse">
            <a:avLst/>
          </a:prstGeom>
          <a:solidFill>
            <a:srgbClr val="F4B41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3408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578608"/>
            <a:ext cx="5998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C8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 the Pi (ssh edith)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-y python3-gpiozero git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--depth 1 https://github.com/Freenove/\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Freenove_Ultimate_Starter_Kit_for_Raspberry_Pi.git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0" y="2194560"/>
            <a:ext cx="457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60920" y="2359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ways to talk to pins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60920" y="2788920"/>
            <a:ext cx="4160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gpiozero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Friendly, beginner-first. LED(17).on() and you're done. We use this.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C5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RPi.GPIO / lgpio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Lower-level, more control. Freenove's examples often use these.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AF6F4"/>
          </a:solidFill>
          <a:ln w="12700">
            <a:solidFill>
              <a:srgbClr val="0FB5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846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Teaching move: run it first, understand it second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5230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learners get a blink working before explaining every line. The early win builds momentum; the concepts land better once they've seen the payoff.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547104"/>
            <a:ext cx="121615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Electronics  ·  STEM Course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1248" y="2743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Projects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idea per project. Each builds on the last — by the end you've touched every kind of component.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· OUTPUT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Blink: your first program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 LED on and off. It sounds trivial, but it teaches the loop that powers almost everything: do something, wait, repeat.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5852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200400"/>
            <a:ext cx="109728" cy="1143000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10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You'll learn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360273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output (HIGH/LOW), loops, and timing with sleep().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5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PARTS: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LED, 1 × 220Ω resistor, 2 jumper wires.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120640" cy="3749040"/>
          </a:xfrm>
          <a:prstGeom prst="roundRect">
            <a:avLst>
              <a:gd name="adj" fmla="val 1463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48272" y="1746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894576" y="1746504"/>
            <a:ext cx="91440" cy="91440"/>
          </a:xfrm>
          <a:prstGeom prst="ellipse">
            <a:avLst/>
          </a:prstGeom>
          <a:solidFill>
            <a:srgbClr val="F4B41A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0" y="1746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84848" y="1984248"/>
            <a:ext cx="47183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gpiozero import LED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time import sleep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= LED(17)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led.on()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sleep(1)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led.off()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sleep(1)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547104"/>
            <a:ext cx="121615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Electronics  ·  STEM Course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· INPUT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Button &amp; LED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button and let it control the light. Now the program responds to the real world instead of just running on a timer.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5852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200400"/>
            <a:ext cx="109728" cy="1143000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10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You'll learn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360273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input and event handling — making the Pi react to you.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5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PARTS: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push button, 1 LED, 1 × 220Ω resistor, wires.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120640" cy="3749040"/>
          </a:xfrm>
          <a:prstGeom prst="roundRect">
            <a:avLst>
              <a:gd name="adj" fmla="val 1463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48272" y="1746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894576" y="1746504"/>
            <a:ext cx="91440" cy="91440"/>
          </a:xfrm>
          <a:prstGeom prst="ellipse">
            <a:avLst/>
          </a:prstGeom>
          <a:solidFill>
            <a:srgbClr val="F4B41A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0" y="1746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84848" y="1984248"/>
            <a:ext cx="47183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gpiozero import LED, Button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signal import pause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= LED(17)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= Button(18)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button.when_pressed  = led.on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button.when_released = led.off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pause()  # wait for events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547104"/>
            <a:ext cx="121615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Electronics  ·  STEM Course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· ANALOG OUT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Breathing LED &amp; RGB color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pin is normally just on or off. PWM flicks it on and off thousands of times a second so an LED can glow at any brightness — and an RGB LED can show any color.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5852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200400"/>
            <a:ext cx="109728" cy="1143000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10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You'll learn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360273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(pulse-width modulation) — faking 'in-between' levels to dim and mix color.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5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PARTS: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LED + 1 RGB LED, 3 × 220Ω resistors, wires.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120640" cy="3749040"/>
          </a:xfrm>
          <a:prstGeom prst="roundRect">
            <a:avLst>
              <a:gd name="adj" fmla="val 1463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48272" y="1746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894576" y="1746504"/>
            <a:ext cx="91440" cy="91440"/>
          </a:xfrm>
          <a:prstGeom prst="ellipse">
            <a:avLst/>
          </a:prstGeom>
          <a:solidFill>
            <a:srgbClr val="F4B41A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0" y="1746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84848" y="1984248"/>
            <a:ext cx="47183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gpiozero import PWMLED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time import sleep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= PWMLED(17)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led.pulse()   # smooth fade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sleep(2)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C8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RGB = three PWM channels mixed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547104"/>
            <a:ext cx="121615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Electronics  ·  STEM Course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· SOUND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some noise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active buzzer just beeps; a passive one plays pitches you control. Great for alarms, feedback sounds, and even little tunes.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5852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200400"/>
            <a:ext cx="109728" cy="1143000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10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You'll learn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360273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 passive buzzers, and generating tones / simple melodies.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5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PARTS: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+ passive buzzer, transistor, wires.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120640" cy="3749040"/>
          </a:xfrm>
          <a:prstGeom prst="roundRect">
            <a:avLst>
              <a:gd name="adj" fmla="val 1463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48272" y="1746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894576" y="1746504"/>
            <a:ext cx="91440" cy="91440"/>
          </a:xfrm>
          <a:prstGeom prst="ellipse">
            <a:avLst/>
          </a:prstGeom>
          <a:solidFill>
            <a:srgbClr val="F4B41A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0" y="1746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84848" y="1984248"/>
            <a:ext cx="47183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gpiozero import TonalBuzzer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gpiozero.tones import Tone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time import sleep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 = TonalBuzzer(17)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note in ['C4','E4','G4','C5']: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buzzer.play(Tone(note))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sleep(0.4)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buzzer.stop()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547104"/>
            <a:ext cx="121615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Electronics  ·  STEM Course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· SENSING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world: analog sensors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 can't read analog voltages directly — an ADC chip in the kit converts them to numbers Python can use.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86000"/>
            <a:ext cx="3520440" cy="109728"/>
          </a:xfrm>
          <a:prstGeom prst="rect">
            <a:avLst/>
          </a:prstGeom>
          <a:solidFill>
            <a:srgbClr val="C51A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420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Potentiometer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knob you turn. Teaches reading a changing value 0–100%.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228600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2286000"/>
            <a:ext cx="3520440" cy="109728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5420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Photoresistor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30632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Senses light. Build an automatic night-light.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28600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2286000"/>
            <a:ext cx="3520440" cy="109728"/>
          </a:xfrm>
          <a:prstGeom prst="rect">
            <a:avLst/>
          </a:prstGeom>
          <a:solidFill>
            <a:srgbClr val="0FB5A4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5420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Thermistor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0632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Senses temperature via resistance — a little math turns it into °C.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11247120" cy="137160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" y="47640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768096" y="4764024"/>
            <a:ext cx="91440" cy="91440"/>
          </a:xfrm>
          <a:prstGeom prst="ellipse">
            <a:avLst/>
          </a:prstGeom>
          <a:solidFill>
            <a:srgbClr val="F4B41A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7640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5001768"/>
            <a:ext cx="10844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gpiozero import MCP3008   # ADC channel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 = MCP3008(0)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print(round(pot.value * 100), '%')   # 0–100 as you turn the knob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47104"/>
            <a:ext cx="121615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Electronics  ·  STEM Course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· SENSING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Distance, motion &amp; climate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6035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947672"/>
            <a:ext cx="502920" cy="502920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7922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Ultrasonic (HC-SR04)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325880" y="2148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Bounces sound off objects to measure distance in cm — like a bat or a car's parking sensor.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6035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3182112"/>
            <a:ext cx="502920" cy="502920"/>
          </a:xfrm>
          <a:prstGeom prst="ellipse">
            <a:avLst/>
          </a:prstGeom>
          <a:solidFill>
            <a:srgbClr val="0FB5A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0266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PIR motion sensor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325880" y="3383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 warm body moving nearby. The heart of any motion-triggered alarm or light.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6035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4416552"/>
            <a:ext cx="502920" cy="502920"/>
          </a:xfrm>
          <a:prstGeom prst="ellipse">
            <a:avLst/>
          </a:prstGeom>
          <a:solidFill>
            <a:srgbClr val="F4B41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2611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DHT11 climate sensor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325880" y="4617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temperature and humidity together — the basis of a weather station.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645920"/>
            <a:ext cx="4937760" cy="3657600"/>
          </a:xfrm>
          <a:prstGeom prst="roundRect">
            <a:avLst>
              <a:gd name="adj" fmla="val 1500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31152" y="17922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7077456" y="1792224"/>
            <a:ext cx="91440" cy="91440"/>
          </a:xfrm>
          <a:prstGeom prst="ellipse">
            <a:avLst/>
          </a:prstGeom>
          <a:solidFill>
            <a:srgbClr val="F4B41A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17922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6967728" y="2029968"/>
            <a:ext cx="453542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C8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Ultrasonic distance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gpiozero import DistanceSensor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time import sleep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 = DistanceSensor(echo=24,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trigger=23)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 = sensor.distance * 100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print(round(cm, 1), 'cm')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sleep(0.5)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547104"/>
            <a:ext cx="121615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Electronics  ·  STEM Course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· OUTPUT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Showing information: displays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3520440" cy="640080"/>
          </a:xfrm>
          <a:prstGeom prst="rect">
            <a:avLst/>
          </a:prstGeom>
          <a:solidFill>
            <a:srgbClr val="C51A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LCD1602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25146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of 16 characters. Perfect for showing sensor readings and messages.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1691640"/>
            <a:ext cx="3520440" cy="640080"/>
          </a:xfrm>
          <a:prstGeom prst="rect">
            <a:avLst/>
          </a:prstGeom>
          <a:solidFill>
            <a:srgbClr val="0FB5A4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7-segment display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07992" y="25146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glowing digits — great for counters, clocks, and scores.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69164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91640"/>
            <a:ext cx="3520440" cy="640080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8×8 LED matrix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02752" y="25146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dots you can light individually to draw icons, letters, and animations.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11247120" cy="1645920"/>
          </a:xfrm>
          <a:prstGeom prst="roundRect">
            <a:avLst>
              <a:gd name="adj" fmla="val 4444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displays matter for teaching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892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on a screen is the moment electronics becomes useful. Pairing a sensor with a display — "read the temperature, show it on the LCD" — is the single most satisfying beginner project, and it sets up every capstone.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547104"/>
            <a:ext cx="121615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Electronics  ·  STEM Course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· MOTION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Things that move: motors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6035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109728" cy="1051560"/>
          </a:xfrm>
          <a:prstGeom prst="rect">
            <a:avLst/>
          </a:prstGeom>
          <a:solidFill>
            <a:srgbClr val="C51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9222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5798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to a precise angle (0–180°). Use it for dials, arms, and locks.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6035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834640"/>
            <a:ext cx="109728" cy="1051560"/>
          </a:xfrm>
          <a:prstGeom prst="rect">
            <a:avLst/>
          </a:prstGeom>
          <a:solidFill>
            <a:srgbClr val="0FB5A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809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Stepper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34670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in exact steps for full, precise rotation — think clocks and positioning.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6035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4023360"/>
            <a:ext cx="109728" cy="1051560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696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DC motor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53542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Spins fast and continuously. Driven through an H-bridge chip for direction control.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66560" y="1645920"/>
            <a:ext cx="4937760" cy="3474720"/>
          </a:xfrm>
          <a:prstGeom prst="roundRect">
            <a:avLst>
              <a:gd name="adj" fmla="val 1579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31152" y="17922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7077456" y="1792224"/>
            <a:ext cx="91440" cy="91440"/>
          </a:xfrm>
          <a:prstGeom prst="ellipse">
            <a:avLst/>
          </a:prstGeom>
          <a:solidFill>
            <a:srgbClr val="F4B41A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0" y="17922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6967728" y="2029968"/>
            <a:ext cx="45354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C8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Sweep a servo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gpiozero import Servo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time import sleep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 = Servo(17)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servo.min(); sleep(1)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servo.mid(); sleep(1)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servo.max(); sleep(1)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5349240"/>
            <a:ext cx="6035040" cy="594360"/>
          </a:xfrm>
          <a:prstGeom prst="roundRect">
            <a:avLst>
              <a:gd name="adj" fmla="val 49231"/>
            </a:avLst>
          </a:prstGeom>
          <a:solidFill>
            <a:srgbClr val="FFE9EE"/>
          </a:solidFill>
          <a:ln w="12700">
            <a:solidFill>
              <a:srgbClr val="C51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34924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note:  </a:t>
            </a:r>
            <a:pPr indent="0" marL="0"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 get their own power via driver chips — never straight from a GPIO pin.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47104"/>
            <a:ext cx="121615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Electronics  ·  STEM Course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1248" y="2743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Capstone STEM Projects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sensors, logic, and displays into things that feel genuinely useful — and impressive to demo.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projects worth showing off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520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3520440" cy="109728"/>
          </a:xfrm>
          <a:prstGeom prst="rect">
            <a:avLst/>
          </a:prstGeom>
          <a:solidFill>
            <a:srgbClr val="C51A4A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9476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night-light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3682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Photoresistor + RGB LED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27157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fades on automatically as the room gets dark.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691640"/>
            <a:ext cx="3520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691640"/>
            <a:ext cx="3520440" cy="109728"/>
          </a:xfrm>
          <a:prstGeom prst="rect">
            <a:avLst/>
          </a:prstGeom>
          <a:solidFill>
            <a:srgbClr val="0FB5A4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19476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 weather station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7992" y="23682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+ LCD1602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07992" y="27157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temperature &amp; humidity on a screen.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3520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1691640"/>
            <a:ext cx="3520440" cy="109728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17" name="Text 15"/>
          <p:cNvSpPr/>
          <p:nvPr/>
        </p:nvSpPr>
        <p:spPr>
          <a:xfrm>
            <a:off x="8302752" y="19476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Ultrasonic theremin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02752" y="23682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+ passive buzzer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02752" y="27157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your hand to change the pitch — pure fun.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520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840480"/>
            <a:ext cx="3520440" cy="109728"/>
          </a:xfrm>
          <a:prstGeom prst="rect">
            <a:avLst/>
          </a:prstGeom>
          <a:solidFill>
            <a:srgbClr val="3A7CA5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0965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 parking sensor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" y="451713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+ buzzer + LEDs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Beeps faster as an object gets closer.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51960" y="3840480"/>
            <a:ext cx="3520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3840480"/>
            <a:ext cx="3520440" cy="109728"/>
          </a:xfrm>
          <a:prstGeom prst="rect">
            <a:avLst/>
          </a:prstGeom>
          <a:solidFill>
            <a:srgbClr val="C51A4A"/>
          </a:solidFill>
          <a:ln/>
        </p:spPr>
      </p:sp>
      <p:sp>
        <p:nvSpPr>
          <p:cNvPr id="27" name="Text 25"/>
          <p:cNvSpPr/>
          <p:nvPr/>
        </p:nvSpPr>
        <p:spPr>
          <a:xfrm>
            <a:off x="4507992" y="40965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Keypad door lock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07992" y="451713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keypad + servo + LCD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07992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right code to 'unlock'.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3840480"/>
            <a:ext cx="3520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0" y="3840480"/>
            <a:ext cx="3520440" cy="109728"/>
          </a:xfrm>
          <a:prstGeom prst="rect">
            <a:avLst/>
          </a:prstGeom>
          <a:solidFill>
            <a:srgbClr val="0FB5A4"/>
          </a:solidFill>
          <a:ln/>
        </p:spPr>
      </p:sp>
      <p:sp>
        <p:nvSpPr>
          <p:cNvPr id="32" name="Text 30"/>
          <p:cNvSpPr/>
          <p:nvPr/>
        </p:nvSpPr>
        <p:spPr>
          <a:xfrm>
            <a:off x="8302752" y="40965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Intruder alarm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02752" y="451713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+ buzzer + LED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02752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an alarm when motion is detected.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47104"/>
            <a:ext cx="121615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Electronics  ·  STEM Course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INSTRUCTORS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teach this well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0FB5A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8105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Predict, then run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25880" y="217627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"what will this do?" before running code. The surprise when they're wrong is where learning sticks.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rgbClr val="0FB5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18105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 up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40880" y="217627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per Pi: one wires, one types, then swap. Talking through it doubles retention.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090672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319272"/>
            <a:ext cx="457200" cy="457200"/>
          </a:xfrm>
          <a:prstGeom prst="ellipse">
            <a:avLst/>
          </a:prstGeom>
          <a:solidFill>
            <a:srgbClr val="0FB5A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2552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Normalize bugs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325880" y="362102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wires and typos are the lesson, not a failure. Model calm, systematic debugging.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090672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319272"/>
            <a:ext cx="457200" cy="457200"/>
          </a:xfrm>
          <a:prstGeom prst="ellipse">
            <a:avLst/>
          </a:prstGeom>
          <a:solidFill>
            <a:srgbClr val="0FB5A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0" y="32552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concept per project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040880" y="362102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piling on. Each project should add exactly one new idea over the last.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535424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4764024"/>
            <a:ext cx="457200" cy="457200"/>
          </a:xfrm>
          <a:prstGeom prst="ellipse">
            <a:avLst/>
          </a:prstGeom>
          <a:solidFill>
            <a:srgbClr val="0FB5A4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25880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 on a demo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325880" y="506577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every session with something that visibly works. Momentum is the best motivator.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4535424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2D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4764024"/>
            <a:ext cx="457200" cy="457200"/>
          </a:xfrm>
          <a:prstGeom prst="ellipse">
            <a:avLst/>
          </a:prstGeom>
          <a:solidFill>
            <a:srgbClr val="0FB5A4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40880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a parts tray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040880" y="506577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resistors kill momentum. A labeled tray per pair saves huge amounts of time.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47104"/>
            <a:ext cx="121615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Electronics  ·  STEM Course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B5A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8096" y="12801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&amp; next steps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2404872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331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Freenove tutorial &amp; 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0" y="2331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8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github.com/Freenove/Freenove_Ultimate_Starter_Kit_for_Raspberry_Pi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246120"/>
            <a:ext cx="146304" cy="146304"/>
          </a:xfrm>
          <a:prstGeom prst="ellipse">
            <a:avLst/>
          </a:prstGeom>
          <a:solidFill>
            <a:srgbClr val="F4B41A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1729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962-page tutorial PDF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5040" y="31729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8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freenove.com/fnk0020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4087368"/>
            <a:ext cx="146304" cy="146304"/>
          </a:xfrm>
          <a:prstGeom prst="ellipse">
            <a:avLst/>
          </a:prstGeom>
          <a:solidFill>
            <a:srgbClr val="C51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0142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gpiozero docs (Python library)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40142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8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gpiozero.readthedocs.io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928616"/>
            <a:ext cx="146304" cy="146304"/>
          </a:xfrm>
          <a:prstGeom prst="ellipse">
            <a:avLst/>
          </a:prstGeom>
          <a:solidFill>
            <a:srgbClr val="F4B41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8554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Pi setup guide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48554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8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github.com/aecheman27-gif/RaspberryPiStandalone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989320"/>
            <a:ext cx="10515600" cy="18288"/>
          </a:xfrm>
          <a:prstGeom prst="rect">
            <a:avLst/>
          </a:prstGeom>
          <a:solidFill>
            <a:srgbClr val="152A4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6126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Blink. Get one win. The other 127 projects follow from there.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Raspberry Pi Electronics — A Hands-On STEM Course</dc:title>
  <dc:subject>PptxGenJS Presentation</dc:subject>
  <dc:creator>Ryan</dc:creator>
  <cp:lastModifiedBy>Ryan</cp:lastModifiedBy>
  <cp:revision>1</cp:revision>
  <dcterms:created xsi:type="dcterms:W3CDTF">2026-06-20T22:53:27Z</dcterms:created>
  <dcterms:modified xsi:type="dcterms:W3CDTF">2026-06-20T22:53:27Z</dcterms:modified>
</cp:coreProperties>
</file>